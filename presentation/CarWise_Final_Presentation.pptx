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51d831f8fc4be0" /><Relationship Type="http://schemas.openxmlformats.org/officeDocument/2006/relationships/extended-properties" Target="/docProps/app.xml" Id="Rc0ff46718a5447f6" /><Relationship Type="http://schemas.openxmlformats.org/officeDocument/2006/relationships/officeDocument" Target="/ppt/presentation.xml" Id="Re68937c15eeb44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da7f31b7704f83"/>
  </p:sldMasterIdLst>
  <p:notesMasterIdLst>
    <p:notesMasterId xmlns:r="http://schemas.openxmlformats.org/officeDocument/2006/relationships" r:id="R3fea1cda5b394e99"/>
  </p:notesMasterIdLst>
  <p:sldIdLst>
    <p:sldId xmlns:r="http://schemas.openxmlformats.org/officeDocument/2006/relationships" id="256" r:id="R6ef9be8a2e4847cb"/>
    <p:sldId xmlns:r="http://schemas.openxmlformats.org/officeDocument/2006/relationships" id="257" r:id="Rf7dbf8068a9a4180"/>
    <p:sldId xmlns:r="http://schemas.openxmlformats.org/officeDocument/2006/relationships" id="258" r:id="R4bb3ccdefc344f50"/>
    <p:sldId xmlns:r="http://schemas.openxmlformats.org/officeDocument/2006/relationships" id="259" r:id="R3543e5f473fa442c"/>
    <p:sldId xmlns:r="http://schemas.openxmlformats.org/officeDocument/2006/relationships" id="260" r:id="Rb93da734e04d4a4c"/>
    <p:sldId xmlns:r="http://schemas.openxmlformats.org/officeDocument/2006/relationships" id="261" r:id="Rfa275eb9dcac4f76"/>
    <p:sldId xmlns:r="http://schemas.openxmlformats.org/officeDocument/2006/relationships" id="262" r:id="R2b65000ad59e4aee"/>
    <p:sldId xmlns:r="http://schemas.openxmlformats.org/officeDocument/2006/relationships" id="263" r:id="Rae63ee458e764ff8"/>
    <p:sldId xmlns:r="http://schemas.openxmlformats.org/officeDocument/2006/relationships" id="264" r:id="R925c7cc691da4ee2"/>
    <p:sldId xmlns:r="http://schemas.openxmlformats.org/officeDocument/2006/relationships" id="265" r:id="Rcb548275d58a44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17e63e2db44422" /><Relationship Type="http://schemas.openxmlformats.org/officeDocument/2006/relationships/slideMaster" Target="/ppt/slideMasters/slideMaster1.xml" Id="R60da7f31b7704f83" /><Relationship Type="http://schemas.openxmlformats.org/officeDocument/2006/relationships/notesMaster" Target="/ppt/notesMasters/notesMaster1.xml" Id="R3fea1cda5b394e99" /><Relationship Type="http://schemas.openxmlformats.org/officeDocument/2006/relationships/presProps" Target="/ppt/presProps.xml" Id="Rc4d707260c9a411f" /><Relationship Type="http://schemas.openxmlformats.org/officeDocument/2006/relationships/tableStyles" Target="/ppt/tableStyles.xml" Id="Rd67f30c6dafc43db" /><Relationship Type="http://schemas.openxmlformats.org/officeDocument/2006/relationships/slide" Target="/ppt/slides/slide1.xml" Id="R6ef9be8a2e4847cb" /><Relationship Type="http://schemas.openxmlformats.org/officeDocument/2006/relationships/slide" Target="/ppt/slides/slide2.xml" Id="Rf7dbf8068a9a4180" /><Relationship Type="http://schemas.openxmlformats.org/officeDocument/2006/relationships/slide" Target="/ppt/slides/slide3.xml" Id="R4bb3ccdefc344f50" /><Relationship Type="http://schemas.openxmlformats.org/officeDocument/2006/relationships/slide" Target="/ppt/slides/slide4.xml" Id="R3543e5f473fa442c" /><Relationship Type="http://schemas.openxmlformats.org/officeDocument/2006/relationships/slide" Target="/ppt/slides/slide5.xml" Id="Rb93da734e04d4a4c" /><Relationship Type="http://schemas.openxmlformats.org/officeDocument/2006/relationships/slide" Target="/ppt/slides/slide6.xml" Id="Rfa275eb9dcac4f76" /><Relationship Type="http://schemas.openxmlformats.org/officeDocument/2006/relationships/slide" Target="/ppt/slides/slide7.xml" Id="R2b65000ad59e4aee" /><Relationship Type="http://schemas.openxmlformats.org/officeDocument/2006/relationships/slide" Target="/ppt/slides/slide8.xml" Id="Rae63ee458e764ff8" /><Relationship Type="http://schemas.openxmlformats.org/officeDocument/2006/relationships/slide" Target="/ppt/slides/slide9.xml" Id="R925c7cc691da4ee2" /><Relationship Type="http://schemas.openxmlformats.org/officeDocument/2006/relationships/slide" Target="/ppt/slides/slide10.xml" Id="Rcb548275d58a44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75bcfc50384a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32a6fb72304b2a" /><Relationship Type="http://schemas.openxmlformats.org/officeDocument/2006/relationships/notesMaster" Target="/ppt/notesMasters/notesMaster1.xml" Id="R2ad28e6ab8c946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dcfeb7cba44bac" /><Relationship Type="http://schemas.openxmlformats.org/officeDocument/2006/relationships/notesMaster" Target="/ppt/notesMasters/notesMaster1.xml" Id="Ra3e1a7bf4e884b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95a750df2c4ab0" /><Relationship Type="http://schemas.openxmlformats.org/officeDocument/2006/relationships/notesMaster" Target="/ppt/notesMasters/notesMaster1.xml" Id="R9be21091bb1046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7a5ebb67dc41ed" /><Relationship Type="http://schemas.openxmlformats.org/officeDocument/2006/relationships/notesMaster" Target="/ppt/notesMasters/notesMaster1.xml" Id="Rfa876dd0a67f44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0543343f3e48eb" /><Relationship Type="http://schemas.openxmlformats.org/officeDocument/2006/relationships/notesMaster" Target="/ppt/notesMasters/notesMaster1.xml" Id="R0fad83b822314e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36ac3ac20949e0" /><Relationship Type="http://schemas.openxmlformats.org/officeDocument/2006/relationships/notesMaster" Target="/ppt/notesMasters/notesMaster1.xml" Id="Ra46f745f67a747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a672fb1f85464a" /><Relationship Type="http://schemas.openxmlformats.org/officeDocument/2006/relationships/notesMaster" Target="/ppt/notesMasters/notesMaster1.xml" Id="R1735c6fffe894c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5851042464483e" /><Relationship Type="http://schemas.openxmlformats.org/officeDocument/2006/relationships/notesMaster" Target="/ppt/notesMasters/notesMaster1.xml" Id="R257f9c24972641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c7e12f83924686" /><Relationship Type="http://schemas.openxmlformats.org/officeDocument/2006/relationships/notesMaster" Target="/ppt/notesMasters/notesMaster1.xml" Id="Rb8de35f6f61240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0779d0fb454709" /><Relationship Type="http://schemas.openxmlformats.org/officeDocument/2006/relationships/notesMaster" Target="/ppt/notesMasters/notesMaster1.xml" Id="R6eb91b05ec6948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user problem: marketplace search is broad, but buyer questions are specific.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/Users/rith_45/Downloads/Final_Project_Brief.pdf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query box, adjustable controls, and visible pipeline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/Users/rith_45/Documents/Search Engine/presentation_assets/carwise-demo.png</a:t>
            </a:r>
          </a:p>
          <a:p xmlns:a="http://schemas.openxmlformats.org/drawingml/2006/main">
            <a:r>
              <a:t>- /Users/rith_45/Documents/Search Engine/app.py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/Users/rith_45/Documents/Search Engine/carwise/cambodia_dataset.py</a:t>
            </a:r>
          </a:p>
          <a:p xmlns:a="http://schemas.openxmlformats.org/drawingml/2006/main">
            <a:r>
              <a:t>- /Users/rith_45/Documents/Search Engine/carwise/chunking.py</a:t>
            </a:r>
          </a:p>
          <a:p xmlns:a="http://schemas.openxmlformats.org/drawingml/2006/main">
            <a:r>
              <a:t>- /Users/rith_45/Documents/Search Engine/carwise/embeddings.py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maps directly to the six-stage architecture required by the brief.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/Users/rith_45/Documents/Search Engine/carwise/vector_store.py</a:t>
            </a:r>
          </a:p>
          <a:p xmlns:a="http://schemas.openxmlformats.org/drawingml/2006/main">
            <a:r>
              <a:t>- /Users/rith_45/Documents/Search Engine/carwise/generation.py</a:t>
            </a:r>
          </a:p>
          <a:p xmlns:a="http://schemas.openxmlformats.org/drawingml/2006/main">
            <a:r>
              <a:t>- /Users/rith_45/Documents/Search Engine/app.py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cover LLO3: code organization and documentation.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/Users/rith_45/Documents/Search Engine/README.md</a:t>
            </a:r>
          </a:p>
          <a:p xmlns:a="http://schemas.openxmlformats.org/drawingml/2006/main">
            <a:r>
              <a:t>- /Users/rith_45/Documents/Search Engine/tests/</a:t>
            </a:r>
          </a:p>
          <a:p xmlns:a="http://schemas.openxmlformats.org/drawingml/2006/main">
            <a:r>
              <a:t>- /Users/rith_45/Documents/Search Engine/evaluation/report.md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/Users/rith_45/Documents/Search Engine/README.md</a:t>
            </a:r>
          </a:p>
          <a:p xmlns:a="http://schemas.openxmlformats.org/drawingml/2006/main">
            <a:r>
              <a:t>- /Users/rith_45/Documents/Search Engine/data/documents/_manifest.json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trade-off: offline reliability is stronger than prose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/Users/rith_45/Documents/Search Engine/README.md</a:t>
            </a:r>
          </a:p>
          <a:p xmlns:a="http://schemas.openxmlformats.org/drawingml/2006/main">
            <a:r>
              <a:t>- /Users/rith_45/Documents/Search Engine/carwise/chunking.py</a:t>
            </a:r>
          </a:p>
          <a:p xmlns:a="http://schemas.openxmlformats.org/drawingml/2006/main">
            <a:r>
              <a:t>- /Users/rith_45/Documents/Search Engine/carwise/generation.py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 retrieval latency was 0.01 seconds; mean local generation latency was 4.79 seconds.</a:t>
            </a:r>
          </a:p>
          <a:p xmlns:a="http://schemas.openxmlformats.org/drawingml/2006/main">
            <a:r>
              <a:t>Do not hide the 4/9 result: it motivates the documented provider trade-off.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/Users/rith_45/Documents/Search Engine/evaluation/latest_results.json</a:t>
            </a:r>
          </a:p>
          <a:p xmlns:a="http://schemas.openxmlformats.org/drawingml/2006/main">
            <a:r>
              <a:t>- /Users/rith_45/Documents/Search Engine/evaluation/report.md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unsupported safety query during the live demo to demonstrate graceful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/Users/rith_45/Documents/Search Engine/README.md</a:t>
            </a:r>
          </a:p>
          <a:p xmlns:a="http://schemas.openxmlformats.org/drawingml/2006/main">
            <a:r>
              <a:t>- /Users/rith_45/Documents/Search Engine/carwise/pipeline.py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central claim: useful recommendations must remain verifiable.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/Users/rith_45/Documents/Search Engine/README.md</a:t>
            </a:r>
          </a:p>
          <a:p xmlns:a="http://schemas.openxmlformats.org/drawingml/2006/main">
            <a:r>
              <a:t>- /Users/rith_45/Downloads/Final_Project_Brief.pdf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ace3c07c654a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852b40ba3948da" /><Relationship Type="http://schemas.openxmlformats.org/officeDocument/2006/relationships/slideLayout" Target="/ppt/slideLayouts/slideLayout1.xml" Id="Rdc5ea3e3225542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5ea3e3225542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4377440b34d29" /><Relationship Type="http://schemas.openxmlformats.org/officeDocument/2006/relationships/notesSlide" Target="/ppt/notesSlides/notesSlide1.xml" Id="R74e8e6507c274b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69d22ed144dca" /><Relationship Type="http://schemas.openxmlformats.org/officeDocument/2006/relationships/image" Target="/ppt/media/image.jpeg" Id="R779183a8b5014c94" /><Relationship Type="http://schemas.openxmlformats.org/officeDocument/2006/relationships/notesSlide" Target="/ppt/notesSlides/notesSlide2.xml" Id="R671467fb0d4f46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9c38e66f44e12" /><Relationship Type="http://schemas.openxmlformats.org/officeDocument/2006/relationships/notesSlide" Target="/ppt/notesSlides/notesSlide3.xml" Id="Re4272aa7dc3b4f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48d032d0f438c" /><Relationship Type="http://schemas.openxmlformats.org/officeDocument/2006/relationships/notesSlide" Target="/ppt/notesSlides/notesSlide4.xml" Id="R2179505cbb0249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66c03b9494e06" /><Relationship Type="http://schemas.openxmlformats.org/officeDocument/2006/relationships/notesSlide" Target="/ppt/notesSlides/notesSlide5.xml" Id="Rbf2951d5c69640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49d3161714a4d" /><Relationship Type="http://schemas.openxmlformats.org/officeDocument/2006/relationships/notesSlide" Target="/ppt/notesSlides/notesSlide6.xml" Id="Re0dcf3941aa44f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eaf69c6a74cfc" /><Relationship Type="http://schemas.openxmlformats.org/officeDocument/2006/relationships/notesSlide" Target="/ppt/notesSlides/notesSlide7.xml" Id="Rbf3aee4aa01649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83672c1ed4841" /><Relationship Type="http://schemas.openxmlformats.org/officeDocument/2006/relationships/notesSlide" Target="/ppt/notesSlides/notesSlide8.xml" Id="R54146dac69714f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a129487664341" /><Relationship Type="http://schemas.openxmlformats.org/officeDocument/2006/relationships/notesSlide" Target="/ppt/notesSlides/notesSlide9.xml" Id="R2fc1386dd6214d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de707414d456f" /><Relationship Type="http://schemas.openxmlformats.org/officeDocument/2006/relationships/notesSlide" Target="/ppt/notesSlides/notesSlide10.xml" Id="R7da79b67089a4f7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FD89B228-C400-42F2-9144-000ABDA8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CarWise
Cambodia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D5D37AA-0F12-419B-A457-7C2F9325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grounded RAG search system for Cambodian car recommendations · 29 July 2026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16465F9-B4F9-49BC-8CED-8BE4501C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CS382 FINAL PROJECT</a:t>
            </a:r>
          </a:p>
        </p:txBody>
      </p:sp>
    </p:spTree>
    <p:extLst>
      <p:ext uri="{BB962C8B-B14F-4D97-AF65-F5344CB8AC3E}">
        <p14:creationId xmlns:p14="http://schemas.microsoft.com/office/powerpoint/2010/main" val="261914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5463818-BE51-4177-ABC8-CD98C8BF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10B6861-8DA0-4357-8427-9F4D2E8D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Verifiable car recommendations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F6DA411D-F07E-4801-8452-680A4351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638F20D8-364C-4922-8E87-ED963390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USER EXPERIENCE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Ask a question in plain language.
Adjust top-k, similarity, answer mode, provider, year, make, body type, location, and budget.
Review photo cards, comparable prices, a grounded answer, and expandable source chunks.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183a8b5014c94"/>
          <a:srcRect xmlns:a="http://schemas.openxmlformats.org/drawingml/2006/main" l="22188" t="0" r="22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</p:spTree>
    <p:extLst>
      <p:ext uri="{BB962C8B-B14F-4D97-AF65-F5344CB8AC3E}">
        <p14:creationId xmlns:p14="http://schemas.microsoft.com/office/powerpoint/2010/main" val="14528173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2DAC941-0D1C-4375-BA4E-3023DF60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0EA28DA-2B22-4EB5-8DA4-A5A9D90C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first half of the pipeline creates searchable evidence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CA32D03-5FCC-4FDD-AE0A-FE40020A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FA4C630-193E-401A-A6F7-61C064CF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F3E261C-7528-4EB3-8CF0-121D7148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90137870-9C17-4E12-B5E8-3C3BB61C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A814C965-C5FC-4886-9D27-176CE434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INGEST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Load the checked-in Khmer24 snapshot and validate required listing fields. One unique marketplace listing becomes one document.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42594E06-F026-4636-A0A7-52F457E6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CF45AD12-865F-4477-A422-80C92018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CHUNK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Create a complete-profile chunk plus section-aware chunks. Long text splits at sentence boundaries with controlled overlap.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752D362D-7178-48BB-A2E6-A2A70DB7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09F6D2A9-81AA-45BF-B617-4FFAC146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EMBED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Encode every chunk with all-MiniLM-L6-v2 and normalize the vectors for cosine similarity.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A58BE302-6F55-4047-8FB2-34897821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B170CDB9-7769-4A61-97AF-A00F4A1F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C6AE9D03-5D18-41FC-A595-C5B10CBE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59509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3FA3B8B-39B2-495D-B6E8-1C6111E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1F3790F-F2D3-4D2D-B24D-DC99833E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second half retrieves, generates, and shows its work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78A9340-3362-4CD4-BCB2-881855E2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5099F296-F5D8-4265-9567-E7119017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632A3A0-1ED7-440C-9B11-D242A943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83EB7F1-0476-4E03-9424-3DF8F5F9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48F0CCD8-BCE1-478D-9766-E0B23221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RETRIEVE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Embed the query, enforce price/year/make/fuel/body constraints, rank by cosine similarity, and keep the top-k distinct vehicles.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435D4695-F7C8-4A51-B2B8-EB5B93DB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6FD75FB6-562E-46EF-93A0-109B760E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GENERATE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Pass the three strongest profiles to a real local instruction LLM. Require source labels before displaying the answer.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DA22AB32-235E-4251-A8B3-2CCCA2DD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AAD82104-C5C3-49EF-A8DF-8A842F69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INTERFACE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Show recommendation cards, nearby-price options, latency, and every retrieved chunk with title, score, text, and direct links.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BEE4894F-8ACB-4F37-93E4-B56F4D59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FA63C992-7470-4F64-82CC-2C00E423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54097EC0-D226-41D2-B14E-93F26BD4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64566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9E1D78E-BC9A-480D-9628-AC6D9132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619E864-9CD6-4757-B9ED-818668D3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Modular code and evidence artifacts make the system reproducible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093D9F7-C84A-4767-9481-A7FE39D0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SEPARABLE LAYERS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Ingestion · cambodia_dataset.py
Chunking · chunking.py
Embeddings · embeddings.py
Retrieval · vector_store.py
Generation · generation.py
Interface · app.py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F9A908EC-EE27-482F-941A-F029BA3B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4341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REPRODUCIBLE OUTPUTS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Timestamped raw snapshot
600 generated documents
Persistent vector index
Nine-query evaluation JSON
Per-query written report
22 automated unit tests</a:t>
            </a:r>
          </a:p>
        </p:txBody>
      </p:sp>
    </p:spTree>
    <p:extLst>
      <p:ext uri="{BB962C8B-B14F-4D97-AF65-F5344CB8AC3E}">
        <p14:creationId xmlns:p14="http://schemas.microsoft.com/office/powerpoint/2010/main" val="15101755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E2E4039B-C0C5-4DC2-8C89-27F23A66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DF954D24-4CE9-4AAD-8137-6FAD631B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93BF3DC8-85FC-49DE-9AF6-A6065B6A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82C22ABC-85D9-4FAB-B8AF-AFCEA76F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77A232AF-C6C8-4C92-B69F-CCD3BB13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focused Cambodian corpus is large enough for meaningful retrieval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81368BD-479F-4D13-8AB9-3A8A4E4D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unique Cambodian listings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BE6892A-7BF6-4109-B099-3F9A2125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searchable evidence chunks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DA1C2542-7FF4-4CD9-A2A1-E7C88AB9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identified vehicle makes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B0447D9D-F0A5-4BDF-AD8E-C891B2C4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600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C49B9AA4-697C-47FE-BE45-D4420D3A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51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D65F9962-DBFC-4D42-B662-F53F014D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3,000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ACA5DDC-A2F6-4A75-8864-024EA809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DATASET COVERAGE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collection is a reproducible snapshot of public Khmer24 vehicle listings, enriched conservatively with model-year or manufacturer-family specifications.</a:t>
            </a:r>
          </a:p>
        </p:txBody>
      </p:sp>
    </p:spTree>
    <p:extLst>
      <p:ext uri="{BB962C8B-B14F-4D97-AF65-F5344CB8AC3E}">
        <p14:creationId xmlns:p14="http://schemas.microsoft.com/office/powerpoint/2010/main" val="14895316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3F346B9-BC14-4549-8CBF-3E962258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519CCDD-DFA6-4C5C-99F7-967AEBC3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Design choices prioritize demo reliability and transparent evidence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34C96E0-F31B-4DB7-8B2F-4ABA309F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WHY THIS RETRIEVAL DESIGN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Section-aware chunks preserve context.
Cosine search is sufficient for 3,000 chunks.
Strict metadata filters protect budget and vehicle constraints.
Top-k 5 balances choice with readable evidence.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DA003A5C-87B9-415D-B8EA-3970FDD5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785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WHY THIS GENERATION DESIGN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compact three-profile prompt lowers local latency.
Qwen 0.5B works offline with no API key.
A citation guard blocks uncited output.
Cards and source chunks remain authoritative when prose is weak.</a:t>
            </a:r>
          </a:p>
        </p:txBody>
      </p:sp>
    </p:spTree>
    <p:extLst>
      <p:ext uri="{BB962C8B-B14F-4D97-AF65-F5344CB8AC3E}">
        <p14:creationId xmlns:p14="http://schemas.microsoft.com/office/powerpoint/2010/main" val="8425787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42545B63-EDE0-4B04-93BB-DAECBB50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2039A5D9-4192-42CA-8D13-2EE89DB9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59AC2127-6C1A-4635-9BD8-A61F91AF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0A88E4E-247F-4EE6-957C-CEA9FF60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2C1CF340-B07C-4677-916F-EA4282EE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Evaluation separates retrieval success from language-model quality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9324F3-E6F9-4F61-9345-BADEA6B0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retrieval evidence coverage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195F6D4-C934-482C-84AD-D1468173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117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manual answer-quality passes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9B3120AC-0904-4811-99CB-A38D3DF1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 citation grounding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2647650C-9D47-42C4-9DD3-F69281B2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 / 9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3A0C6A12-EEF4-48C0-97B4-70309762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 / 9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AB5FF4D-69CD-4AC2-BBFA-1E023D6E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 / 9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792D57B0-A64F-4F49-8082-ABC3F630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NINE RECORDED TEST QUERIES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Each query records retrieved documents, similarity scores, generated output, citations, latency, and a manual qualitative assessment.</a:t>
            </a:r>
          </a:p>
        </p:txBody>
      </p:sp>
    </p:spTree>
    <p:extLst>
      <p:ext uri="{BB962C8B-B14F-4D97-AF65-F5344CB8AC3E}">
        <p14:creationId xmlns:p14="http://schemas.microsoft.com/office/powerpoint/2010/main" val="9242254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5C35154-78CC-4113-AB53-2B87F583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A1482E5-144D-47EA-8C43-15431E11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boundaries keep recommendations honest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D42C10A-7F4B-4CF6-A38A-FDDFBEEA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SUPPORTED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Seller asking price
Model year and make
Body and fuel type
Cambodian location
Reference efficiency and specifications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66DEDBE5-F35C-4796-8896-DAEE4DD1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74341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NOT VERIFIED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Crash safety or reliability
Mechanical condition
Ownership or paperwork authenticity
Fair market value
Current availability
Exact imported trim</a:t>
            </a:r>
          </a:p>
        </p:txBody>
      </p:sp>
    </p:spTree>
    <p:extLst>
      <p:ext uri="{BB962C8B-B14F-4D97-AF65-F5344CB8AC3E}">
        <p14:creationId xmlns:p14="http://schemas.microsoft.com/office/powerpoint/2010/main" val="1355200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A0179651-F6F9-4BAF-8627-2375EB96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Ask. Retrieve.
Verify.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69567A6-1BFB-48C0-8002-FBF4870C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/>
              <a:t>1 · Search: hybrid under $18k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/>
              <a:t>2 · Verify: scored source chunks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/>
              <a:t>3 · Refuse: unsupported safety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AC6F02D-D015-4F7D-8FF6-CA5CAF9C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1877960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2026-07-28T10:06:57.0790000Z</dcterms:created>
  <dcterms:modified xsi:type="dcterms:W3CDTF">2026-07-28T10:06:57.0790000Z</dcterms:modified>
</coreProperties>
</file>